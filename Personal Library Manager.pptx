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59" d="100"/>
          <a:sy n="159" d="100"/>
        </p:scale>
        <p:origin x="-2220" y="-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2841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07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52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997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62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6383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4021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2169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2534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23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032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DE4DFC-8A07-4EE2-80AC-77A266D0ED5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9EFB9-085B-4AE0-AE9B-433C95520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527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3568" y="908720"/>
            <a:ext cx="7772400" cy="1470025"/>
          </a:xfrm>
        </p:spPr>
        <p:txBody>
          <a:bodyPr>
            <a:normAutofit/>
          </a:bodyPr>
          <a:lstStyle/>
          <a:p>
            <a:r>
              <a:rPr lang="en-US" sz="4000" cap="all" dirty="0">
                <a:latin typeface="Arial" pitchFamily="34" charset="0"/>
                <a:cs typeface="Arial" pitchFamily="34" charset="0"/>
              </a:rPr>
              <a:t>Personal Library Manager</a:t>
            </a:r>
            <a:endParaRPr lang="ru-RU" sz="4000" cap="all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Разработчик: Инютин Иван и </a:t>
            </a:r>
            <a:r>
              <a:rPr lang="ru-RU" sz="1800" b="1" dirty="0" err="1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Гераськин</a:t>
            </a:r>
            <a:r>
              <a:rPr lang="ru-RU" sz="1800" b="1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Дмитрий</a:t>
            </a:r>
          </a:p>
          <a:p>
            <a:r>
              <a:rPr lang="ru-RU" sz="1800" b="1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Дата создания: </a:t>
            </a:r>
            <a:r>
              <a:rPr lang="ru-RU" sz="1800" b="1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2026</a:t>
            </a:r>
            <a:endParaRPr lang="ru-RU" sz="1800" b="1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ru-RU" sz="1800" b="1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Версия: </a:t>
            </a:r>
            <a:r>
              <a:rPr lang="ru-RU" sz="1800" b="1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0.1</a:t>
            </a:r>
            <a:endParaRPr lang="ru-RU" sz="1800" b="1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65179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cap="all" dirty="0">
                <a:latin typeface="Arial" pitchFamily="34" charset="0"/>
                <a:cs typeface="Arial" pitchFamily="34" charset="0"/>
              </a:rPr>
              <a:t>Технологический стек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340768"/>
            <a:ext cx="8229600" cy="4997152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Arial" pitchFamily="34" charset="0"/>
                <a:cs typeface="Arial" pitchFamily="34" charset="0"/>
              </a:rPr>
              <a:t>Backend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Flask (Python)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-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основной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фреймворк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 веб-приложения</a:t>
            </a:r>
          </a:p>
          <a:p>
            <a:pPr lvl="1">
              <a:buFont typeface="Arial" pitchFamily="34" charset="0"/>
              <a:buChar char="•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SQLite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-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лёгкая встраиваемая </a:t>
            </a:r>
            <a:r>
              <a:rPr lang="ru-RU" sz="1800" dirty="0" smtClean="0">
                <a:latin typeface="Arial" pitchFamily="34" charset="0"/>
                <a:cs typeface="Arial" pitchFamily="34" charset="0"/>
              </a:rPr>
              <a:t>СУБД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sz="1800" dirty="0" smtClean="0">
                <a:latin typeface="Arial" pitchFamily="34" charset="0"/>
                <a:cs typeface="Arial" pitchFamily="34" charset="0"/>
              </a:rPr>
              <a:t>и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для работы с базой </a:t>
            </a:r>
            <a:r>
              <a:rPr lang="ru-RU" sz="1800" dirty="0" smtClean="0">
                <a:latin typeface="Arial" pitchFamily="34" charset="0"/>
                <a:cs typeface="Arial" pitchFamily="34" charset="0"/>
              </a:rPr>
              <a:t>данных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Frontend &amp; UI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1800" dirty="0" smtClean="0">
                <a:latin typeface="Arial" pitchFamily="34" charset="0"/>
                <a:cs typeface="Arial" pitchFamily="34" charset="0"/>
              </a:rPr>
              <a:t>Jinja2 -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шаблонизация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HTML</a:t>
            </a:r>
          </a:p>
          <a:p>
            <a:pPr lvl="1">
              <a:buFont typeface="Arial" pitchFamily="34" charset="0"/>
              <a:buChar char="•"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Bootstrap 5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-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адаптивный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CSS-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фреймворк</a:t>
            </a:r>
            <a:endParaRPr lang="ru-RU" sz="1800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HTML/CSS/JavaScript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-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клиентская логика и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интерактив</a:t>
            </a:r>
            <a:endParaRPr lang="ru-RU" sz="1800" dirty="0">
              <a:latin typeface="Arial" pitchFamily="34" charset="0"/>
              <a:cs typeface="Arial" pitchFamily="34" charset="0"/>
            </a:endParaRP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Аутентификация и безопасность</a:t>
            </a:r>
            <a:endParaRPr lang="ru-RU" sz="1800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Flask-Login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-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управление сессиями и авторизацией</a:t>
            </a:r>
          </a:p>
          <a:p>
            <a:pPr lvl="1">
              <a:buFont typeface="Arial" pitchFamily="34" charset="0"/>
              <a:buChar char="•"/>
            </a:pPr>
            <a:r>
              <a:rPr lang="en-US" sz="1800" dirty="0" err="1">
                <a:latin typeface="Arial" pitchFamily="34" charset="0"/>
                <a:cs typeface="Arial" pitchFamily="34" charset="0"/>
              </a:rPr>
              <a:t>bcrypt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-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хеширование паролей</a:t>
            </a:r>
          </a:p>
          <a:p>
            <a:pPr lvl="1">
              <a:buFont typeface="Arial" pitchFamily="34" charset="0"/>
              <a:buChar char="•"/>
            </a:pPr>
            <a:r>
              <a:rPr lang="en-US" sz="1800" dirty="0">
                <a:latin typeface="Arial" pitchFamily="34" charset="0"/>
                <a:cs typeface="Arial" pitchFamily="34" charset="0"/>
              </a:rPr>
              <a:t>Flask-WTF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-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валидация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 форм и защита от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CSRF</a:t>
            </a: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Дополнительно</a:t>
            </a:r>
            <a:endParaRPr lang="ru-RU" sz="1800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en-US" sz="1800" dirty="0" err="1">
                <a:latin typeface="Arial" pitchFamily="34" charset="0"/>
                <a:cs typeface="Arial" pitchFamily="34" charset="0"/>
              </a:rPr>
              <a:t>pytest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-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тестирование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API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и бизнес-логики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 err="1">
                <a:latin typeface="Arial" pitchFamily="34" charset="0"/>
                <a:cs typeface="Arial" pitchFamily="34" charset="0"/>
              </a:rPr>
              <a:t>Валидация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800" dirty="0">
                <a:latin typeface="Arial" pitchFamily="34" charset="0"/>
                <a:cs typeface="Arial" pitchFamily="34" charset="0"/>
              </a:rPr>
              <a:t>JSON-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ответов </a:t>
            </a:r>
            <a:r>
              <a:rPr lang="en-US" sz="1800" dirty="0" smtClean="0">
                <a:latin typeface="Arial" pitchFamily="34" charset="0"/>
                <a:cs typeface="Arial" pitchFamily="34" charset="0"/>
              </a:rPr>
              <a:t>API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1800" dirty="0" smtClean="0"/>
              <a:t/>
            </a:r>
            <a:br>
              <a:rPr lang="en-US" sz="1800" dirty="0" smtClean="0"/>
            </a:b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122613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cap="all" dirty="0">
                <a:latin typeface="Arial" pitchFamily="34" charset="0"/>
                <a:cs typeface="Arial" pitchFamily="34" charset="0"/>
              </a:rPr>
              <a:t>Основные задачи проекта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268760"/>
            <a:ext cx="8229600" cy="4525963"/>
          </a:xfrm>
        </p:spPr>
        <p:txBody>
          <a:bodyPr>
            <a:noAutofit/>
          </a:bodyPr>
          <a:lstStyle/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Аутентификация и авторизация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Регистрация / вход пользователей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Защита закрытых маршрутов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Безопасное хранение паролей</a:t>
            </a: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Управление книгами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Добавление/редактирование/удаление книг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Загрузка обложек 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1800" dirty="0" smtClean="0">
                <a:latin typeface="Arial" pitchFamily="34" charset="0"/>
                <a:cs typeface="Arial" pitchFamily="34" charset="0"/>
              </a:rPr>
              <a:t>Фильтрация 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и сортировка по автору, жанру, году</a:t>
            </a: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Выдача и возврат книг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Маркировка книги как «выдана»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Блокировка повторной выдачи до возврата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История выдачи (опционально - в будущем расширении)</a:t>
            </a: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Интерфейс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Адаптивный дизайн (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mobile-first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)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Карточки книг с обложками и кнопками действий</a:t>
            </a: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Поиск и фильтрация в реальном времени</a:t>
            </a:r>
          </a:p>
        </p:txBody>
      </p:sp>
    </p:spTree>
    <p:extLst>
      <p:ext uri="{BB962C8B-B14F-4D97-AF65-F5344CB8AC3E}">
        <p14:creationId xmlns:p14="http://schemas.microsoft.com/office/powerpoint/2010/main" val="3647209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cap="all" dirty="0">
                <a:latin typeface="Arial" pitchFamily="34" charset="0"/>
                <a:cs typeface="Arial" pitchFamily="34" charset="0"/>
              </a:rPr>
              <a:t>Ключевые особенности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268760"/>
            <a:ext cx="8229600" cy="4525963"/>
          </a:xfrm>
        </p:spPr>
        <p:txBody>
          <a:bodyPr>
            <a:noAutofit/>
          </a:bodyPr>
          <a:lstStyle/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Пользовательская изоляция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Каждый пользователь видит только свои книги (без пересечений).</a:t>
            </a: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Гибкое управление метаданными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Авторы и жанры - справочники: можно создавать новые или выбирать существующие.</a:t>
            </a: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Безопасность «из коробки»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Защита от SQL-инъекций (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SQLAlchemy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), CSRF (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Flask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-WTF), хеширование паролей.</a:t>
            </a: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API-</a:t>
            </a:r>
            <a:r>
              <a:rPr lang="ru-RU" sz="1800" b="1" dirty="0" err="1">
                <a:latin typeface="Arial" pitchFamily="34" charset="0"/>
                <a:cs typeface="Arial" pitchFamily="34" charset="0"/>
              </a:rPr>
              <a:t>first</a:t>
            </a:r>
            <a:r>
              <a:rPr lang="ru-RU" sz="1800" b="1" dirty="0">
                <a:latin typeface="Arial" pitchFamily="34" charset="0"/>
                <a:cs typeface="Arial" pitchFamily="34" charset="0"/>
              </a:rPr>
              <a:t> подход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Отдельный API для интеграции (например, мобильное приложение в будущем).</a:t>
            </a:r>
          </a:p>
          <a:p>
            <a:r>
              <a:rPr lang="ru-RU" sz="1800" b="1" dirty="0" err="1">
                <a:latin typeface="Arial" pitchFamily="34" charset="0"/>
                <a:cs typeface="Arial" pitchFamily="34" charset="0"/>
              </a:rPr>
              <a:t>Тестопригодность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Покрытие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pytest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: проверка авторизации, CRUD операций,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валидации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.</a:t>
            </a:r>
          </a:p>
          <a:p>
            <a:r>
              <a:rPr lang="ru-RU" sz="1800" b="1" dirty="0">
                <a:latin typeface="Arial" pitchFamily="34" charset="0"/>
                <a:cs typeface="Arial" pitchFamily="34" charset="0"/>
              </a:rPr>
              <a:t>Минимализм + масштабируемость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SQLite для старта, легко заменяется на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PostgreSQL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/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MySQL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 при росте</a:t>
            </a:r>
            <a:r>
              <a:rPr lang="ru-RU" sz="1800" b="1" dirty="0">
                <a:latin typeface="Arial" pitchFamily="34" charset="0"/>
                <a:cs typeface="Arial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44463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cap="all" dirty="0">
                <a:latin typeface="Arial" pitchFamily="34" charset="0"/>
                <a:cs typeface="Arial" pitchFamily="34" charset="0"/>
              </a:rPr>
              <a:t>система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1520" y="1268760"/>
            <a:ext cx="8229600" cy="4525963"/>
          </a:xfrm>
        </p:spPr>
        <p:txBody>
          <a:bodyPr>
            <a:noAutofit/>
          </a:bodyPr>
          <a:lstStyle/>
          <a:p>
            <a:pPr lvl="1">
              <a:buFont typeface="Arial" pitchFamily="34" charset="0"/>
              <a:buChar char="•"/>
            </a:pPr>
            <a:r>
              <a:rPr lang="ru-RU" sz="1800" b="1" dirty="0">
                <a:latin typeface="Arial" pitchFamily="34" charset="0"/>
                <a:cs typeface="Arial" pitchFamily="34" charset="0"/>
              </a:rPr>
              <a:t>Что делает приложение?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  <a:p>
            <a:pPr lvl="2"/>
            <a:r>
              <a:rPr lang="ru-RU" sz="1800" dirty="0">
                <a:latin typeface="Arial" pitchFamily="34" charset="0"/>
                <a:cs typeface="Arial" pitchFamily="34" charset="0"/>
              </a:rPr>
              <a:t>Пользователь регистрируется - создаёт свою личную библиотеку.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lvl="2"/>
            <a:r>
              <a:rPr lang="ru-RU" sz="1800" dirty="0">
                <a:latin typeface="Arial" pitchFamily="34" charset="0"/>
                <a:cs typeface="Arial" pitchFamily="34" charset="0"/>
              </a:rPr>
              <a:t>Добавляет книги (название, автор, жанр, год, обложка).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lvl="2"/>
            <a:r>
              <a:rPr lang="ru-RU" sz="1800" dirty="0">
                <a:latin typeface="Arial" pitchFamily="34" charset="0"/>
                <a:cs typeface="Arial" pitchFamily="34" charset="0"/>
              </a:rPr>
              <a:t>Выдаёт книгу другому человеку - система помечает её как «взята».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lvl="2"/>
            <a:r>
              <a:rPr lang="ru-RU" sz="1800" dirty="0">
                <a:latin typeface="Arial" pitchFamily="34" charset="0"/>
                <a:cs typeface="Arial" pitchFamily="34" charset="0"/>
              </a:rPr>
              <a:t>Возвращает - книга снова становится доступной.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lvl="1">
              <a:buFont typeface="Arial" pitchFamily="34" charset="0"/>
              <a:buChar char="•"/>
            </a:pPr>
            <a:r>
              <a:rPr lang="ru-RU" sz="1800" b="1" dirty="0">
                <a:latin typeface="Arial" pitchFamily="34" charset="0"/>
                <a:cs typeface="Arial" pitchFamily="34" charset="0"/>
              </a:rPr>
              <a:t>Как устроено внутри?</a:t>
            </a:r>
          </a:p>
          <a:p>
            <a:pPr lvl="2"/>
            <a:r>
              <a:rPr lang="ru-RU" sz="1800" dirty="0" err="1">
                <a:latin typeface="Arial" pitchFamily="34" charset="0"/>
                <a:cs typeface="Arial" pitchFamily="34" charset="0"/>
              </a:rPr>
              <a:t>Бэкенд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: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Flask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 (Python) - обрабатывает запросы, логику и данные.</a:t>
            </a:r>
          </a:p>
          <a:p>
            <a:pPr lvl="2"/>
            <a:r>
              <a:rPr lang="ru-RU" sz="1800" dirty="0">
                <a:latin typeface="Arial" pitchFamily="34" charset="0"/>
                <a:cs typeface="Arial" pitchFamily="34" charset="0"/>
              </a:rPr>
              <a:t>База данных: SQLite - хранит пользователей, книги, авторов и жанры.</a:t>
            </a:r>
          </a:p>
          <a:p>
            <a:pPr lvl="2"/>
            <a:r>
              <a:rPr lang="ru-RU" sz="1800" dirty="0" err="1">
                <a:latin typeface="Arial" pitchFamily="34" charset="0"/>
                <a:cs typeface="Arial" pitchFamily="34" charset="0"/>
              </a:rPr>
              <a:t>Фронтенд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: HTML +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Bootstrap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 - красивый и удобный интерфейс на любом устройстве.</a:t>
            </a:r>
          </a:p>
          <a:p>
            <a:pPr lvl="2"/>
            <a:r>
              <a:rPr lang="ru-RU" sz="1800" dirty="0">
                <a:latin typeface="Arial" pitchFamily="34" charset="0"/>
                <a:cs typeface="Arial" pitchFamily="34" charset="0"/>
              </a:rPr>
              <a:t>Безопасность: пароли зашифрованы, формы защищены от подделки, доступ только для авторизованных.</a:t>
            </a:r>
          </a:p>
        </p:txBody>
      </p:sp>
    </p:spTree>
    <p:extLst>
      <p:ext uri="{BB962C8B-B14F-4D97-AF65-F5344CB8AC3E}">
        <p14:creationId xmlns:p14="http://schemas.microsoft.com/office/powerpoint/2010/main" val="3337045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cap="all" dirty="0" smtClean="0">
                <a:latin typeface="Arial" pitchFamily="34" charset="0"/>
                <a:cs typeface="Arial" pitchFamily="34" charset="0"/>
              </a:rPr>
              <a:t>Заключение</a:t>
            </a:r>
            <a:endParaRPr lang="ru-RU" cap="all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-324544" y="1340768"/>
            <a:ext cx="8517632" cy="5184576"/>
          </a:xfrm>
        </p:spPr>
        <p:txBody>
          <a:bodyPr>
            <a:noAutofit/>
          </a:bodyPr>
          <a:lstStyle/>
          <a:p>
            <a:pPr lvl="2"/>
            <a:r>
              <a:rPr lang="ru-RU" sz="1800" b="1" dirty="0">
                <a:latin typeface="Arial" pitchFamily="34" charset="0"/>
                <a:cs typeface="Arial" pitchFamily="34" charset="0"/>
              </a:rPr>
              <a:t>Цель достигнута:</a:t>
            </a:r>
          </a:p>
          <a:p>
            <a:pPr lvl="3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Реализовано веб-приложение для личного управления библиотекой с полным циклом - от регистрации до выдачи книг.</a:t>
            </a:r>
          </a:p>
          <a:p>
            <a:pPr lvl="2"/>
            <a:r>
              <a:rPr lang="ru-RU" sz="1800" b="1" dirty="0">
                <a:latin typeface="Arial" pitchFamily="34" charset="0"/>
                <a:cs typeface="Arial" pitchFamily="34" charset="0"/>
              </a:rPr>
              <a:t>Преимущества решения:</a:t>
            </a:r>
          </a:p>
          <a:p>
            <a:pPr lvl="3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Простота развёртывания (один файл .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py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, SQLite)</a:t>
            </a:r>
          </a:p>
          <a:p>
            <a:pPr lvl="3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Чёткое разделение слоёв (MVC-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like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)</a:t>
            </a:r>
          </a:p>
          <a:p>
            <a:pPr lvl="3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Готовность к расширению (API, история выдачи, уведомления)</a:t>
            </a:r>
          </a:p>
          <a:p>
            <a:pPr lvl="2"/>
            <a:r>
              <a:rPr lang="ru-RU" sz="1800" b="1" dirty="0">
                <a:latin typeface="Arial" pitchFamily="34" charset="0"/>
                <a:cs typeface="Arial" pitchFamily="34" charset="0"/>
              </a:rPr>
              <a:t>Дальнейшие шаги (</a:t>
            </a:r>
            <a:r>
              <a:rPr lang="ru-RU" sz="1800" b="1" dirty="0" err="1">
                <a:latin typeface="Arial" pitchFamily="34" charset="0"/>
                <a:cs typeface="Arial" pitchFamily="34" charset="0"/>
              </a:rPr>
              <a:t>Roadmap</a:t>
            </a:r>
            <a:r>
              <a:rPr lang="ru-RU" sz="1800" b="1" dirty="0">
                <a:latin typeface="Arial" pitchFamily="34" charset="0"/>
                <a:cs typeface="Arial" pitchFamily="34" charset="0"/>
              </a:rPr>
              <a:t>):</a:t>
            </a:r>
          </a:p>
          <a:p>
            <a:pPr lvl="3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Добавить историю выдачи книг</a:t>
            </a:r>
          </a:p>
          <a:p>
            <a:pPr lvl="3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Реализовать поиск по ISBN / автоматическое заполнение метаданных</a:t>
            </a:r>
          </a:p>
          <a:p>
            <a:pPr lvl="3">
              <a:buFont typeface="Arial" pitchFamily="34" charset="0"/>
              <a:buChar char="•"/>
            </a:pPr>
            <a:r>
              <a:rPr lang="ru-RU" sz="1800" dirty="0">
                <a:latin typeface="Arial" pitchFamily="34" charset="0"/>
                <a:cs typeface="Arial" pitchFamily="34" charset="0"/>
              </a:rPr>
              <a:t>Поддержка нескольких пользователей в одной библиотеке («семейная» версия)</a:t>
            </a:r>
          </a:p>
          <a:p>
            <a:pPr lvl="3">
              <a:buFont typeface="Arial" pitchFamily="34" charset="0"/>
              <a:buChar char="•"/>
            </a:pPr>
            <a:r>
              <a:rPr lang="ru-RU" sz="1800" dirty="0" err="1">
                <a:latin typeface="Arial" pitchFamily="34" charset="0"/>
                <a:cs typeface="Arial" pitchFamily="34" charset="0"/>
              </a:rPr>
              <a:t>Docker</a:t>
            </a:r>
            <a:r>
              <a:rPr lang="ru-RU" sz="1800" dirty="0">
                <a:latin typeface="Arial" pitchFamily="34" charset="0"/>
                <a:cs typeface="Arial" pitchFamily="34" charset="0"/>
              </a:rPr>
              <a:t>-образ для </a:t>
            </a:r>
            <a:r>
              <a:rPr lang="ru-RU" sz="1800" dirty="0" err="1">
                <a:latin typeface="Arial" pitchFamily="34" charset="0"/>
                <a:cs typeface="Arial" pitchFamily="34" charset="0"/>
              </a:rPr>
              <a:t>деплоя</a:t>
            </a:r>
            <a:endParaRPr lang="ru-RU" sz="1800" dirty="0">
              <a:latin typeface="Arial" pitchFamily="34" charset="0"/>
              <a:cs typeface="Arial" pitchFamily="34" charset="0"/>
            </a:endParaRPr>
          </a:p>
          <a:p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1409486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Words>440</Words>
  <Application>Microsoft Office PowerPoint</Application>
  <PresentationFormat>Экран (4:3)</PresentationFormat>
  <Paragraphs>73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Personal Library Manager</vt:lpstr>
      <vt:lpstr>Технологический стек</vt:lpstr>
      <vt:lpstr>Основные задачи проекта:</vt:lpstr>
      <vt:lpstr>Ключевые особенности</vt:lpstr>
      <vt:lpstr>система</vt:lpstr>
      <vt:lpstr>Заключение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Дмитрий Гераськин</dc:creator>
  <cp:lastModifiedBy>Дмитрий Гераськин</cp:lastModifiedBy>
  <cp:revision>9</cp:revision>
  <dcterms:created xsi:type="dcterms:W3CDTF">2026-05-06T19:40:47Z</dcterms:created>
  <dcterms:modified xsi:type="dcterms:W3CDTF">2026-05-07T11:50:09Z</dcterms:modified>
</cp:coreProperties>
</file>