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0" r:id="rId6"/>
    <p:sldId id="263" r:id="rId7"/>
    <p:sldId id="261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9" d="100"/>
          <a:sy n="159" d="100"/>
        </p:scale>
        <p:origin x="-2168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675EC-8929-4E9D-8D91-5B4BD63F0FC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4877F8-27F3-450C-B9B9-2CB6006733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290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877F8-27F3-450C-B9B9-2CB6006733C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651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4DFC-8A07-4EE2-80AC-77A266D0ED5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9EFB9-085B-4AE0-AE9B-433C95520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841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4DFC-8A07-4EE2-80AC-77A266D0ED5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9EFB9-085B-4AE0-AE9B-433C95520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0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4DFC-8A07-4EE2-80AC-77A266D0ED5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9EFB9-085B-4AE0-AE9B-433C95520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52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4DFC-8A07-4EE2-80AC-77A266D0ED5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9EFB9-085B-4AE0-AE9B-433C95520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99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4DFC-8A07-4EE2-80AC-77A266D0ED5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9EFB9-085B-4AE0-AE9B-433C95520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622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4DFC-8A07-4EE2-80AC-77A266D0ED5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9EFB9-085B-4AE0-AE9B-433C95520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38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4DFC-8A07-4EE2-80AC-77A266D0ED5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9EFB9-085B-4AE0-AE9B-433C95520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02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4DFC-8A07-4EE2-80AC-77A266D0ED5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9EFB9-085B-4AE0-AE9B-433C95520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16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4DFC-8A07-4EE2-80AC-77A266D0ED5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9EFB9-085B-4AE0-AE9B-433C95520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534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4DFC-8A07-4EE2-80AC-77A266D0ED5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9EFB9-085B-4AE0-AE9B-433C95520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235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4DFC-8A07-4EE2-80AC-77A266D0ED5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9EFB9-085B-4AE0-AE9B-433C95520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032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E4DFC-8A07-4EE2-80AC-77A266D0ED5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9EFB9-085B-4AE0-AE9B-433C95520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27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908720"/>
            <a:ext cx="7772400" cy="1470025"/>
          </a:xfrm>
        </p:spPr>
        <p:txBody>
          <a:bodyPr>
            <a:normAutofit/>
          </a:bodyPr>
          <a:lstStyle/>
          <a:p>
            <a:r>
              <a:rPr lang="en-US" sz="4000" cap="all" dirty="0">
                <a:latin typeface="Arial" pitchFamily="34" charset="0"/>
                <a:cs typeface="Arial" pitchFamily="34" charset="0"/>
              </a:rPr>
              <a:t>Personal Library Manager</a:t>
            </a:r>
            <a:endParaRPr lang="ru-RU" sz="4000" cap="al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1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Разработчик: Инютин Иван и </a:t>
            </a:r>
            <a:r>
              <a:rPr lang="ru-RU" sz="18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Гераськин</a:t>
            </a:r>
            <a:r>
              <a:rPr lang="ru-RU" sz="1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Дмитрий</a:t>
            </a:r>
          </a:p>
          <a:p>
            <a:r>
              <a:rPr lang="ru-RU" sz="1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Дата создания: </a:t>
            </a:r>
            <a:r>
              <a:rPr lang="ru-RU" sz="1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2026</a:t>
            </a:r>
            <a:endParaRPr lang="ru-RU" sz="18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ru-RU" sz="1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Версия: </a:t>
            </a:r>
            <a:r>
              <a:rPr lang="ru-RU" sz="1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0.1</a:t>
            </a:r>
            <a:endParaRPr lang="ru-RU" sz="18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517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cap="all" dirty="0">
                <a:latin typeface="Arial" pitchFamily="34" charset="0"/>
                <a:cs typeface="Arial" pitchFamily="34" charset="0"/>
              </a:rPr>
              <a:t>Технологический стек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196752"/>
            <a:ext cx="5760640" cy="4997152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Arial" pitchFamily="34" charset="0"/>
                <a:cs typeface="Arial" pitchFamily="34" charset="0"/>
              </a:rPr>
              <a:t>Backend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Flask (Python)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ru-RU" sz="1800" dirty="0">
                <a:latin typeface="Arial" pitchFamily="34" charset="0"/>
                <a:cs typeface="Arial" pitchFamily="34" charset="0"/>
              </a:rPr>
              <a:t>основной </a:t>
            </a:r>
            <a:r>
              <a:rPr lang="ru-RU" sz="1800" dirty="0" err="1">
                <a:latin typeface="Arial" pitchFamily="34" charset="0"/>
                <a:cs typeface="Arial" pitchFamily="34" charset="0"/>
              </a:rPr>
              <a:t>фреймворк</a:t>
            </a:r>
            <a:r>
              <a:rPr lang="ru-RU" sz="1800" dirty="0">
                <a:latin typeface="Arial" pitchFamily="34" charset="0"/>
                <a:cs typeface="Arial" pitchFamily="34" charset="0"/>
              </a:rPr>
              <a:t> веб-приложения</a:t>
            </a:r>
          </a:p>
          <a:p>
            <a:pPr lvl="1"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SQLite - </a:t>
            </a:r>
            <a:r>
              <a:rPr lang="ru-RU" sz="1800" dirty="0">
                <a:latin typeface="Arial" pitchFamily="34" charset="0"/>
                <a:cs typeface="Arial" pitchFamily="34" charset="0"/>
              </a:rPr>
              <a:t>лёгкая встраиваемая </a:t>
            </a:r>
            <a:r>
              <a:rPr lang="ru-RU" sz="1800" dirty="0" smtClean="0">
                <a:latin typeface="Arial" pitchFamily="34" charset="0"/>
                <a:cs typeface="Arial" pitchFamily="34" charset="0"/>
              </a:rPr>
              <a:t>СУБД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1800" dirty="0" smtClean="0">
                <a:latin typeface="Arial" pitchFamily="34" charset="0"/>
                <a:cs typeface="Arial" pitchFamily="34" charset="0"/>
              </a:rPr>
              <a:t>и </a:t>
            </a:r>
            <a:r>
              <a:rPr lang="ru-RU" sz="1800" dirty="0">
                <a:latin typeface="Arial" pitchFamily="34" charset="0"/>
                <a:cs typeface="Arial" pitchFamily="34" charset="0"/>
              </a:rPr>
              <a:t>для работы с базой </a:t>
            </a:r>
            <a:r>
              <a:rPr lang="ru-RU" sz="1800" dirty="0" smtClean="0">
                <a:latin typeface="Arial" pitchFamily="34" charset="0"/>
                <a:cs typeface="Arial" pitchFamily="34" charset="0"/>
              </a:rPr>
              <a:t>данных</a:t>
            </a:r>
          </a:p>
          <a:p>
            <a:r>
              <a:rPr lang="en-US" sz="1800" b="1" dirty="0" smtClean="0">
                <a:latin typeface="Arial" pitchFamily="34" charset="0"/>
                <a:cs typeface="Arial" pitchFamily="34" charset="0"/>
              </a:rPr>
              <a:t>Frontend &amp; UI</a:t>
            </a: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Jinja2 - </a:t>
            </a:r>
            <a:r>
              <a:rPr lang="ru-RU" sz="1800" dirty="0" err="1">
                <a:latin typeface="Arial" pitchFamily="34" charset="0"/>
                <a:cs typeface="Arial" pitchFamily="34" charset="0"/>
              </a:rPr>
              <a:t>шаблонизация</a:t>
            </a:r>
            <a:r>
              <a:rPr lang="ru-RU" sz="1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HTML</a:t>
            </a:r>
          </a:p>
          <a:p>
            <a:pPr lvl="1">
              <a:buFont typeface="Arial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Bootstrap 5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ru-RU" sz="1800" dirty="0">
                <a:latin typeface="Arial" pitchFamily="34" charset="0"/>
                <a:cs typeface="Arial" pitchFamily="34" charset="0"/>
              </a:rPr>
              <a:t>адаптивный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CSS-</a:t>
            </a:r>
            <a:r>
              <a:rPr lang="ru-RU" sz="1800" dirty="0" err="1">
                <a:latin typeface="Arial" pitchFamily="34" charset="0"/>
                <a:cs typeface="Arial" pitchFamily="34" charset="0"/>
              </a:rPr>
              <a:t>фреймворк</a:t>
            </a:r>
            <a:endParaRPr lang="ru-RU" sz="1800" dirty="0">
              <a:latin typeface="Arial" pitchFamily="34" charset="0"/>
              <a:cs typeface="Arial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HTML/CSS/JavaScript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ru-RU" sz="1800" dirty="0">
                <a:latin typeface="Arial" pitchFamily="34" charset="0"/>
                <a:cs typeface="Arial" pitchFamily="34" charset="0"/>
              </a:rPr>
              <a:t>клиентская логика и </a:t>
            </a:r>
            <a:r>
              <a:rPr lang="ru-RU" sz="1800" dirty="0" err="1">
                <a:latin typeface="Arial" pitchFamily="34" charset="0"/>
                <a:cs typeface="Arial" pitchFamily="34" charset="0"/>
              </a:rPr>
              <a:t>интерактив</a:t>
            </a:r>
            <a:endParaRPr lang="ru-RU" sz="1800" dirty="0">
              <a:latin typeface="Arial" pitchFamily="34" charset="0"/>
              <a:cs typeface="Arial" pitchFamily="34" charset="0"/>
            </a:endParaRPr>
          </a:p>
          <a:p>
            <a:r>
              <a:rPr lang="ru-RU" sz="1800" b="1" dirty="0">
                <a:latin typeface="Arial" pitchFamily="34" charset="0"/>
                <a:cs typeface="Arial" pitchFamily="34" charset="0"/>
              </a:rPr>
              <a:t>Аутентификация и безопасность</a:t>
            </a:r>
            <a:endParaRPr lang="ru-RU" sz="1800" dirty="0">
              <a:latin typeface="Arial" pitchFamily="34" charset="0"/>
              <a:cs typeface="Arial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Flask-Login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ru-RU" sz="1800" dirty="0">
                <a:latin typeface="Arial" pitchFamily="34" charset="0"/>
                <a:cs typeface="Arial" pitchFamily="34" charset="0"/>
              </a:rPr>
              <a:t>управление сессиями и авторизацией</a:t>
            </a:r>
          </a:p>
          <a:p>
            <a:pPr lvl="1">
              <a:buFont typeface="Arial" pitchFamily="34" charset="0"/>
              <a:buChar char="•"/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bcrypt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ru-RU" sz="1800" dirty="0">
                <a:latin typeface="Arial" pitchFamily="34" charset="0"/>
                <a:cs typeface="Arial" pitchFamily="34" charset="0"/>
              </a:rPr>
              <a:t>хеширование паролей</a:t>
            </a:r>
          </a:p>
          <a:p>
            <a:pPr lvl="1">
              <a:buFont typeface="Arial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Flask-WTF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ru-RU" sz="1800" dirty="0" err="1">
                <a:latin typeface="Arial" pitchFamily="34" charset="0"/>
                <a:cs typeface="Arial" pitchFamily="34" charset="0"/>
              </a:rPr>
              <a:t>валидация</a:t>
            </a:r>
            <a:r>
              <a:rPr lang="ru-RU" sz="1800" dirty="0">
                <a:latin typeface="Arial" pitchFamily="34" charset="0"/>
                <a:cs typeface="Arial" pitchFamily="34" charset="0"/>
              </a:rPr>
              <a:t> форм и защита от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CSRF</a:t>
            </a:r>
            <a:r>
              <a:rPr lang="en-US" sz="1800" dirty="0" smtClean="0"/>
              <a:t/>
            </a:r>
            <a:br>
              <a:rPr lang="en-US" sz="1800" dirty="0" smtClean="0"/>
            </a:b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12261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cap="all" dirty="0">
                <a:latin typeface="Arial" pitchFamily="34" charset="0"/>
                <a:cs typeface="Arial" pitchFamily="34" charset="0"/>
              </a:rPr>
              <a:t>Основные задачи проекта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196752"/>
            <a:ext cx="6048672" cy="4525963"/>
          </a:xfrm>
        </p:spPr>
        <p:txBody>
          <a:bodyPr>
            <a:noAutofit/>
          </a:bodyPr>
          <a:lstStyle/>
          <a:p>
            <a:r>
              <a:rPr lang="ru-RU" sz="1800" b="1" dirty="0">
                <a:latin typeface="Arial" pitchFamily="34" charset="0"/>
                <a:cs typeface="Arial" pitchFamily="34" charset="0"/>
              </a:rPr>
              <a:t>Аутентификация и авторизация</a:t>
            </a:r>
          </a:p>
          <a:p>
            <a:pPr lvl="1">
              <a:buFont typeface="Arial" pitchFamily="34" charset="0"/>
              <a:buChar char="•"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Регистрация / вход пользователей</a:t>
            </a:r>
          </a:p>
          <a:p>
            <a:pPr lvl="1">
              <a:buFont typeface="Arial" pitchFamily="34" charset="0"/>
              <a:buChar char="•"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Защита закрытых маршрутов</a:t>
            </a:r>
          </a:p>
          <a:p>
            <a:pPr lvl="1">
              <a:buFont typeface="Arial" pitchFamily="34" charset="0"/>
              <a:buChar char="•"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Безопасное хранение паролей</a:t>
            </a:r>
          </a:p>
          <a:p>
            <a:r>
              <a:rPr lang="ru-RU" sz="1800" b="1" dirty="0">
                <a:latin typeface="Arial" pitchFamily="34" charset="0"/>
                <a:cs typeface="Arial" pitchFamily="34" charset="0"/>
              </a:rPr>
              <a:t>Управление книгами</a:t>
            </a:r>
          </a:p>
          <a:p>
            <a:pPr lvl="1">
              <a:buFont typeface="Arial" pitchFamily="34" charset="0"/>
              <a:buChar char="•"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Добавление/редактирование/удаление книг</a:t>
            </a:r>
          </a:p>
          <a:p>
            <a:pPr lvl="1">
              <a:buFont typeface="Arial" pitchFamily="34" charset="0"/>
              <a:buChar char="•"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Загрузка обложек </a:t>
            </a: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ru-RU" sz="1800" dirty="0" smtClean="0">
                <a:latin typeface="Arial" pitchFamily="34" charset="0"/>
                <a:cs typeface="Arial" pitchFamily="34" charset="0"/>
              </a:rPr>
              <a:t>Фильтрация </a:t>
            </a:r>
            <a:r>
              <a:rPr lang="ru-RU" sz="1800" dirty="0">
                <a:latin typeface="Arial" pitchFamily="34" charset="0"/>
                <a:cs typeface="Arial" pitchFamily="34" charset="0"/>
              </a:rPr>
              <a:t>и сортировка по автору, жанру, году</a:t>
            </a:r>
          </a:p>
          <a:p>
            <a:r>
              <a:rPr lang="ru-RU" sz="1800" b="1" dirty="0">
                <a:latin typeface="Arial" pitchFamily="34" charset="0"/>
                <a:cs typeface="Arial" pitchFamily="34" charset="0"/>
              </a:rPr>
              <a:t>Выдача и возврат книг</a:t>
            </a:r>
          </a:p>
          <a:p>
            <a:pPr lvl="1">
              <a:buFont typeface="Arial" pitchFamily="34" charset="0"/>
              <a:buChar char="•"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Маркировка книги как «выдана»</a:t>
            </a:r>
          </a:p>
          <a:p>
            <a:pPr lvl="1">
              <a:buFont typeface="Arial" pitchFamily="34" charset="0"/>
              <a:buChar char="•"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Блокировка повторной выдачи до возврата</a:t>
            </a:r>
          </a:p>
          <a:p>
            <a:pPr lvl="1">
              <a:buFont typeface="Arial" pitchFamily="34" charset="0"/>
              <a:buChar char="•"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История выдачи (опционально - в будущем </a:t>
            </a:r>
            <a:r>
              <a:rPr lang="ru-RU" sz="1800" dirty="0" smtClean="0">
                <a:latin typeface="Arial" pitchFamily="34" charset="0"/>
                <a:cs typeface="Arial" pitchFamily="34" charset="0"/>
              </a:rPr>
              <a:t>расширении</a:t>
            </a:r>
            <a:endParaRPr lang="ru-RU" sz="1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20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ОКНА ВХОДА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РЕГИСТРАЦИИ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" t="1100" r="698" b="482"/>
          <a:stretch/>
        </p:blipFill>
        <p:spPr>
          <a:xfrm>
            <a:off x="467544" y="1700808"/>
            <a:ext cx="3960440" cy="25002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Объект 7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3356992"/>
            <a:ext cx="4041775" cy="25515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3512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/>
          </a:bodyPr>
          <a:lstStyle/>
          <a:p>
            <a:r>
              <a:rPr lang="ru-RU" cap="all" dirty="0" smtClean="0">
                <a:latin typeface="Arial" pitchFamily="34" charset="0"/>
                <a:cs typeface="Arial" pitchFamily="34" charset="0"/>
              </a:rPr>
              <a:t>основной Интерфейс</a:t>
            </a:r>
            <a:endParaRPr lang="ru-RU" cap="all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75"/>
          <a:stretch/>
        </p:blipFill>
        <p:spPr>
          <a:xfrm>
            <a:off x="467544" y="1700808"/>
            <a:ext cx="8229600" cy="39347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704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6632"/>
            <a:ext cx="9108504" cy="1143000"/>
          </a:xfrm>
        </p:spPr>
        <p:txBody>
          <a:bodyPr>
            <a:normAutofit/>
          </a:bodyPr>
          <a:lstStyle/>
          <a:p>
            <a:r>
              <a:rPr lang="ru-RU" cap="all" dirty="0" smtClean="0">
                <a:latin typeface="Arial" pitchFamily="34" charset="0"/>
                <a:cs typeface="Arial" pitchFamily="34" charset="0"/>
              </a:rPr>
              <a:t>Окно добавления книг</a:t>
            </a:r>
            <a:endParaRPr lang="ru-RU" cap="all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31" y="1600200"/>
            <a:ext cx="7687937" cy="45259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884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r>
              <a:rPr lang="ru-RU" cap="all" dirty="0" smtClean="0">
                <a:latin typeface="Arial" pitchFamily="34" charset="0"/>
                <a:cs typeface="Arial" pitchFamily="34" charset="0"/>
              </a:rPr>
              <a:t>Заключение</a:t>
            </a:r>
            <a:endParaRPr lang="ru-RU" cap="all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71600" y="1700808"/>
            <a:ext cx="676875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b="1" dirty="0" smtClean="0">
                <a:latin typeface="Arial" pitchFamily="34" charset="0"/>
                <a:cs typeface="Arial" pitchFamily="34" charset="0"/>
              </a:rPr>
              <a:t>Итог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Проект </a:t>
            </a:r>
            <a:r>
              <a:rPr lang="ru-RU" dirty="0">
                <a:latin typeface="Arial" pitchFamily="34" charset="0"/>
                <a:cs typeface="Arial" pitchFamily="34" charset="0"/>
              </a:rPr>
              <a:t>«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Personal</a:t>
            </a:r>
            <a:r>
              <a:rPr lang="ru-RU" dirty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Library</a:t>
            </a:r>
            <a:r>
              <a:rPr lang="ru-RU" dirty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Manager</a:t>
            </a:r>
            <a:r>
              <a:rPr lang="ru-RU" dirty="0">
                <a:latin typeface="Arial" pitchFamily="34" charset="0"/>
                <a:cs typeface="Arial" pitchFamily="34" charset="0"/>
              </a:rPr>
              <a:t>» демонстрирует комплексный подход к разработке веб-приложения, включая: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Работу с веб-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фреймворком</a:t>
            </a:r>
            <a:r>
              <a:rPr lang="ru-RU" dirty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Flask</a:t>
            </a:r>
            <a:r>
              <a:rPr lang="ru-RU" dirty="0">
                <a:latin typeface="Arial" pitchFamily="34" charset="0"/>
                <a:cs typeface="Arial" pitchFamily="34" charset="0"/>
              </a:rPr>
              <a:t> и ORM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SQLAlchemy</a:t>
            </a:r>
            <a:endParaRPr lang="ru-RU" dirty="0">
              <a:latin typeface="Arial" pitchFamily="34" charset="0"/>
              <a:cs typeface="Arial" pitchFamily="34" charset="0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Проектирование и реализацию базы данных SQLite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Систему аутентификации и авторизации пользователей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Разработку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RESTful</a:t>
            </a:r>
            <a:r>
              <a:rPr lang="ru-RU" dirty="0">
                <a:latin typeface="Arial" pitchFamily="34" charset="0"/>
                <a:cs typeface="Arial" pitchFamily="34" charset="0"/>
              </a:rPr>
              <a:t> API для работы с данными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Создание адаптивного пользовательского интерфейса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Реализацию бизнес-логики выдачи и возврата книг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Обеспечение безопасности (хеширование паролей, защита от CSRF и SQL-инъекций)</a:t>
            </a:r>
          </a:p>
        </p:txBody>
      </p:sp>
    </p:spTree>
    <p:extLst>
      <p:ext uri="{BB962C8B-B14F-4D97-AF65-F5344CB8AC3E}">
        <p14:creationId xmlns:p14="http://schemas.microsoft.com/office/powerpoint/2010/main" val="140948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208</Words>
  <Application>Microsoft Office PowerPoint</Application>
  <PresentationFormat>Экран (4:3)</PresentationFormat>
  <Paragraphs>43</Paragraphs>
  <Slides>7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Personal Library Manager</vt:lpstr>
      <vt:lpstr>Технологический стек</vt:lpstr>
      <vt:lpstr>Основные задачи проекта:</vt:lpstr>
      <vt:lpstr>ОКНА ВХОДА / РЕГИСТРАЦИИ</vt:lpstr>
      <vt:lpstr>основной Интерфейс</vt:lpstr>
      <vt:lpstr>Окно добавления книг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Дмитрий Гераськин</dc:creator>
  <cp:lastModifiedBy>Дмитрий Гераськин</cp:lastModifiedBy>
  <cp:revision>13</cp:revision>
  <dcterms:created xsi:type="dcterms:W3CDTF">2026-05-06T19:40:47Z</dcterms:created>
  <dcterms:modified xsi:type="dcterms:W3CDTF">2026-05-13T19:23:11Z</dcterms:modified>
</cp:coreProperties>
</file>